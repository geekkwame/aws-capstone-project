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 STUDY PLANNER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5: Intern Presentation — Project Showcase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914400" y="26517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Deploying a Secure, Auto-Scaled, High-Availability Web App on AWS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914400" y="384048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Presented by: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Edmund (GeekKwame), Esther, Kwame Opoku, Priscilla, Winnifred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914400" y="420624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Azubi Africa Cloud DevOps Capstone  |  June 2026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Problem &amp; Solution Overview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3108960"/>
          </a:xfrm>
          <a:prstGeom prst="rect">
            <a:avLst>
              <a:gd name="adj" fmla="val 2941"/>
            </a:avLst>
          </a:prstGeom>
          <a:solidFill>
            <a:srgbClr val="FEF2F2"/>
          </a:solidFill>
          <a:ln w="19050">
            <a:solidFill>
              <a:srgbClr val="FCA5A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991B1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Academic Problem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1005840" y="19202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Academic Overload: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Students juggle multiple courses, assignments, and study tasks without structured pathways.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Generic Tool Deficit: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Existing general-purpose notes applications lack student context (priority, course categorisation).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Friction &amp; Loss: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Paper planners are easily lost, and heavyweight tools have steep learning curves that disrupt flow.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657600" cy="3108960"/>
          </a:xfrm>
          <a:prstGeom prst="rect">
            <a:avLst>
              <a:gd name="adj" fmla="val 2941"/>
            </a:avLst>
          </a:prstGeom>
          <a:solidFill>
            <a:srgbClr val="F0FDF4"/>
          </a:solidFill>
          <a:ln w="19050">
            <a:solidFill>
              <a:srgbClr val="86EFA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Our Purposed-Built Solution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Frictionless Task Management: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Create tasks with academic metadata (subjects, custom urgency status, dynamic due dates).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Motivating Feedback Loop: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Visual progress bar increases with completions; randomized motivational quotes refresh on load.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Resilient Offline State: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Client local storage persistence ensures continuous usage even when connection drops.</a:t>
            </a:r>
            <a:endParaRPr lang="en-US" sz="11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Traffic Flow: Client to Web Origin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371600"/>
            <a:ext cx="1828800" cy="3017520"/>
          </a:xfrm>
          <a:prstGeom prst="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1417320" y="1554480"/>
            <a:ext cx="457200" cy="45720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1732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22960" y="2103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DNS &amp; Edge Caching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68680" y="2651760"/>
            <a:ext cx="1554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Namecheap DNS routes requests to AWS CloudFront. 400+ Edge points cache static assets globally.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697480" y="1371600"/>
            <a:ext cx="1828800" cy="3017520"/>
          </a:xfrm>
          <a:prstGeom prst="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383280" y="1554480"/>
            <a:ext cx="457200" cy="45720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38328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2788920" y="2103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Load Balancing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2834640" y="2651760"/>
            <a:ext cx="1554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forwards misses to Application Load Balancer. ALB terminates HTTP and runs health checks.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63440" y="1371600"/>
            <a:ext cx="1828800" cy="3017520"/>
          </a:xfrm>
          <a:prstGeom prst="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5349240" y="1554480"/>
            <a:ext cx="457200" cy="45720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34924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754880" y="2103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 Scaling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800600" y="2651760"/>
            <a:ext cx="1554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The ASG maintains desired counts (1-3 nodes). Launches instances in response to traffic demand.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6629400" y="1371600"/>
            <a:ext cx="1828800" cy="3017520"/>
          </a:xfrm>
          <a:prstGeom prst="rect">
            <a:avLst>
              <a:gd name="adj" fmla="val 25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7315200" y="1554480"/>
            <a:ext cx="457200" cy="457200"/>
          </a:xfrm>
          <a:prstGeom prst="oval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0" y="1554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6720840" y="210312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&amp; Nginx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6766560" y="2651760"/>
            <a:ext cx="155448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t3.micro nodes running Nginx serve the core HTML, CSS, and JS web app files locally.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Infrastructure Architecture Diagram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pic>
        <p:nvPicPr>
          <p:cNvPr id="6" name="Image 0" descr="C:\Users\eddie\OneDrive\Desktop\aws-capstone-project\docs\phase5\architecture-diagra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834640" y="1188720"/>
            <a:ext cx="3474720" cy="347472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Hardening &amp; Decisions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1463040"/>
          </a:xfrm>
          <a:prstGeom prst="rect">
            <a:avLst>
              <a:gd name="adj" fmla="val 3125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508760"/>
            <a:ext cx="320040" cy="3200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1508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1371600" y="1463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Encryption (HTTPS)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914400" y="19202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SSL/TLS certificate managed by AWS ACM. CloudFront distribution configured to redirect all HTTP traffic to HTTPS globally, securing traffic in transit.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4754880" y="1280160"/>
            <a:ext cx="3657600" cy="1463040"/>
          </a:xfrm>
          <a:prstGeom prst="rect">
            <a:avLst>
              <a:gd name="adj" fmla="val 3125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4937760" y="1508760"/>
            <a:ext cx="320040" cy="3200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937760" y="150876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394960" y="146304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Network Segregation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4937760" y="192024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 Groups restrict ingress: Nginx EC2 instances only accept traffic originating directly from the ALB security group, closing off standard public port access.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731520" y="2971800"/>
            <a:ext cx="3657600" cy="1463040"/>
          </a:xfrm>
          <a:prstGeom prst="rect">
            <a:avLst>
              <a:gd name="adj" fmla="val 3125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914400" y="3200400"/>
            <a:ext cx="320040" cy="3200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91440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1371600" y="3154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Host Hardening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914400" y="36118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EC2 instances reside in public subnets but restrict OS management via AWS key-pair (eddie-key.pem). Minimal installation prevents auxiliary exploit vectors.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971800"/>
            <a:ext cx="3657600" cy="1463040"/>
          </a:xfrm>
          <a:prstGeom prst="rect">
            <a:avLst>
              <a:gd name="adj" fmla="val 3125"/>
            </a:avLst>
          </a:prstGeom>
          <a:solidFill>
            <a:srgbClr val="EFF6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937760" y="3200400"/>
            <a:ext cx="320040" cy="320040"/>
          </a:xfrm>
          <a:prstGeom prst="rect">
            <a:avLst/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937760" y="3200400"/>
            <a:ext cx="320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394960" y="3154680"/>
            <a:ext cx="2834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Observability &amp; Billing Alerts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937760" y="3611880"/>
            <a:ext cx="32918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Budgets configured to alert team immediately via SNS on spending over $0.01. CloudWatch schedules Nginx access and error logging for audit logs.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Automated GitHub Actions CI/CD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200400" cy="3108960"/>
          </a:xfrm>
          <a:prstGeom prst="rect">
            <a:avLst>
              <a:gd name="adj" fmla="val 2353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Flow Steps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1920240"/>
            <a:ext cx="2651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Git Push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Developer pushes code to branch main.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Pipeline Trigger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runner starts deployment.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Server SSH Sync
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logs into EC2, runs git pull to synchronize code, verifies config, and reloads Nginx.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71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Pipeline Advantages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89120" y="1920240"/>
            <a:ext cx="4023360" cy="23774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Security-First: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Deployment SSH private key and host configurations are securely kept in GitHub Secrets; no raw keys are ever committed to repository code.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Downtime: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Nginx system reloads dynamically in less than a second after files are updated, avoiding connection interruptions for active users.
</a:t>
            </a:r>
            <a:pPr indent="0" marL="0">
              <a:buNone/>
            </a:pPr>
            <a:r>
              <a:rPr lang="en-US" sz="11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Consistent Deployments: </a:t>
            </a:r>
            <a:pPr indent="0" marL="0">
              <a:buNone/>
            </a:pPr>
            <a:r>
              <a:rPr lang="en-US" sz="11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Manual copy errors are eliminated. The remote server automatically matches the GitHub main branch state exactly.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Planning &amp; Trello History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200400" cy="3108960"/>
          </a:xfrm>
          <a:prstGeom prst="rect">
            <a:avLst>
              <a:gd name="adj" fmla="val 2353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463040"/>
            <a:ext cx="2651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Kanban Board Structure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005840" y="1920240"/>
            <a:ext cx="26517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Backlog: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Unstarted features &amp; system configurations.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 Progress: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Tasks currently actively handled by interns.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Peer Review: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Completed work queued for team checks.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Done Column: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Verified code merged and active in production. </a:t>
            </a:r>
            <a:pPr indent="0" marL="0">
              <a:buNone/>
            </a:pPr>
            <a:r>
              <a:rPr lang="en-US" sz="1000" b="1" i="1" dirty="0">
                <a:solidFill>
                  <a:srgbClr val="16653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(100% completed cards)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389120" y="1371600"/>
            <a:ext cx="40233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Sprint Slices by Phase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4389120" y="1828800"/>
            <a:ext cx="4023360" cy="2560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1: Foundation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Provisioned basic compute nodes (EC2), security roles (IAM), object storage (S3), and requested TLS certificate.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2: Compute App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Configured Nginx web server, ALB routing, and Auto Scaling groups.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3: CDN Go-Live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Deployed CloudFront distribution, Namecheap DNS routing, HTTPS redirect.
</a:t>
            </a:r>
            <a:pPr indent="0" marL="0">
              <a:buNone/>
            </a:pPr>
            <a:r>
              <a:rPr lang="en-US" sz="100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Phase 4: Observation </a:t>
            </a:r>
            <a:pPr indent="0" marL="0">
              <a:buNone/>
            </a:pPr>
            <a:r>
              <a:rPr lang="en-US" sz="100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Wrote GitHub Actions workflow, attached CloudWatch logs/alarms &amp; Budgets monitor.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E3A8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731520"/>
            <a:ext cx="73152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LIVE APPLICATION DEMO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463040"/>
            <a:ext cx="7315200" cy="1005840"/>
          </a:xfrm>
          <a:prstGeom prst="rect">
            <a:avLst>
              <a:gd name="adj" fmla="val 4545"/>
            </a:avLst>
          </a:prstGeom>
          <a:solidFill>
            <a:srgbClr val="0F172A"/>
          </a:solidFill>
          <a:ln w="12700">
            <a:solidFill>
              <a:srgbClr val="0EA5E9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97280" y="15544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Secure Live URL (HTTPS via CloudFront Edge):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097280" y="19202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https://www.studentstudyplannerxyz.xyz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914400" y="2651760"/>
            <a:ext cx="7315200" cy="173736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097280" y="274320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Walkthrough Demonstration Script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97280" y="3108960"/>
            <a:ext cx="694944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1. Establish TLS Padlock: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browser to the domain and verify the ACM SSL certificate status.
</a:t>
            </a:r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2. Task Creation: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Add sample course study tasks. Select subjects and set high priority values.
</a:t>
            </a:r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3. Progress Tracking: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Mark items as completed; check the reactive progress indicator status bar.
</a:t>
            </a:r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4. Persistent Storage: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Reload browser to show that state survives cache wipes (using localStorage).
</a:t>
            </a:r>
            <a:pPr indent="0" marL="0">
              <a:buNone/>
            </a:pPr>
            <a:r>
              <a:rPr lang="en-US" sz="9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5. Edge Headers check: </a:t>
            </a:r>
            <a:pPr indent="0" marL="0">
              <a:buNone/>
            </a:pPr>
            <a:r>
              <a:rPr lang="en-US" sz="9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Open DevTools to point out the header X-Cache: Hit from cloudfront.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Challenges Encountered &amp; Resolutions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1280160"/>
          <a:ext cx="7680960" cy="3200400"/>
        </p:xfrm>
        <a:graphic>
          <a:graphicData uri="http://schemas.openxmlformats.org/drawingml/2006/table">
            <a:tbl>
              <a:tblPr/>
              <a:tblGrid>
                <a:gridCol w="2286000"/>
                <a:gridCol w="2743200"/>
                <a:gridCol w="265176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Challenge Blocker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Underlying Root Cause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Resolution Applied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3A8A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GitHub Actions Workflow Parser Fail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Indentation syntax bug: Yaml top-level keys had 3 spaces instead of 0 column boundary.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Standardised indents to standard YAML levels. Restaged and pushed successfully.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CloudFront 502 Bad Gateway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Origin Protocol Mismatch: CloudFront was set to HTTPS Only, but ALB was on HTTP port 80.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Modified CloudFront origin settings to HTTP-Only to match ALB listeners.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Domain Apex (@) Resolution Fail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CNAME records cannot be bound directly to the Domain Apex in Namecheap DNS.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Utilised CNAME-flattening via Namecheap ALIAS record mapped to CloudFront.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CI/CD runner script git pull crash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EC2 Amazon Linux 2023 base images lack a pre-installed Git binary.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000000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Ran manual setup `sudo dnf install -y git` to resolve runner dependency.</a:t>
                      </a:r>
                      <a:endParaRPr lang="en-US" sz="10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91440" marR="91440" marT="45720" marB="45720">
                    <a:lnL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365760"/>
            <a:ext cx="76809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Lessons &amp; Future Enhancements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731520" y="1051560"/>
            <a:ext cx="1371600" cy="4572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731520" y="475488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DevOps Capstone Project  |  Student Study Planner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7498080" y="47548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{slide_num} / {slide_num}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0" y="1280160"/>
            <a:ext cx="3657600" cy="3108960"/>
          </a:xfrm>
          <a:prstGeom prst="rect">
            <a:avLst>
              <a:gd name="adj" fmla="val 2353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Worked Well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05840" y="19202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Layered AWS Isolation: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CloudFront CDN &amp; ALB decouples compute nodes from the outer edge, protecting instance IPs.
</a:t>
            </a:r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Automation Loop: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GitHub Actions workflow reduced code updates from 5 minutes to under 30 seconds seamlessly.
</a:t>
            </a:r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observability &amp; Budget Alerting: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AWS Budgets alerts at $0.01 threshold prevented unintentional CloudFront / ALB fees.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4754880" y="1280160"/>
            <a:ext cx="3657600" cy="3108960"/>
          </a:xfrm>
          <a:prstGeom prst="rect">
            <a:avLst>
              <a:gd name="adj" fmla="val 2353"/>
            </a:avLst>
          </a:prstGeom>
          <a:solidFill>
            <a:srgbClr val="F8FAFC"/>
          </a:solidFill>
          <a:ln w="190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029200" y="146304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8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What We'd Do Differently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5029200" y="1920240"/>
            <a:ext cx="3108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Infrastructure as Code (IaC):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environments using Terraform/CloudFormation rather than click-heavy manual console settings.
</a:t>
            </a:r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Serverless Containers: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Deploy static files directly on S3 or containerise via ECS Fargate to bypass VM server maintenance.
</a:t>
            </a:r>
            <a:pPr indent="0" marL="0">
              <a:buNone/>
            </a:pPr>
            <a:r>
              <a:rPr lang="en-US" sz="1050" b="1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• Persistent Backend: </a:t>
            </a:r>
            <a:pPr indent="0" marL="0">
              <a:buNone/>
            </a:pPr>
            <a:r>
              <a:rPr lang="en-US" sz="1050" dirty="0">
                <a:solidFill>
                  <a:srgbClr val="33415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Incorporate RDS PostgreSQL database or DynamoDB tables for team sync, moving past local browser storage.</a:t>
            </a:r>
            <a:endParaRPr lang="en-US" sz="10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65760" cy="5143500"/>
          </a:xfrm>
          <a:prstGeom prst="rect">
            <a:avLst/>
          </a:prstGeom>
          <a:solidFill>
            <a:srgbClr val="0EA5E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1463040"/>
            <a:ext cx="73152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THANK YOU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914400" y="219456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Questions &amp; Discussion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914400" y="2834640"/>
            <a:ext cx="7315200" cy="1371600"/>
          </a:xfrm>
          <a:prstGeom prst="rect">
            <a:avLst>
              <a:gd name="adj" fmla="val 3333"/>
            </a:avLst>
          </a:prstGeom>
          <a:solidFill>
            <a:srgbClr val="1E3A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097280" y="2926080"/>
            <a:ext cx="6949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0EA5E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Project Repository &amp; Resources:</a:t>
            </a:r>
            <a:endParaRPr lang="en-US" sz="1050" dirty="0"/>
          </a:p>
        </p:txBody>
      </p:sp>
      <p:sp>
        <p:nvSpPr>
          <p:cNvPr id="7" name="Text 5"/>
          <p:cNvSpPr/>
          <p:nvPr/>
        </p:nvSpPr>
        <p:spPr>
          <a:xfrm>
            <a:off x="1097280" y="32004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https://github.com/GeekKwame/aws-capstone-project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097280" y="3657600"/>
            <a:ext cx="6949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Includes all deployment scripts, Nginx configurations, and phase documentations.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Azubi Africa DevOps Capstone Team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Student Study Planner AWS Capstone Presentation</dc:title>
  <dc:subject>PptxGenJS Presentation</dc:subject>
  <dc:creator>Edmund (GeekKwame)</dc:creator>
  <cp:lastModifiedBy>Edmund (GeekKwame)</cp:lastModifiedBy>
  <cp:revision>1</cp:revision>
  <dcterms:created xsi:type="dcterms:W3CDTF">2026-06-12T00:20:22Z</dcterms:created>
  <dcterms:modified xsi:type="dcterms:W3CDTF">2026-06-12T00:20:22Z</dcterms:modified>
</cp:coreProperties>
</file>